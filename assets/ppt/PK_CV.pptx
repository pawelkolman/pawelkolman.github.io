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53" d="100"/>
          <a:sy n="53" d="100"/>
        </p:scale>
        <p:origin x="301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pl-PL"/>
              <a:t>Kliknij, aby edytować styl</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pl-PL"/>
              <a:t>Kliknij, aby edytować styl wzorca podtytułu</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2020-11-04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1698447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2020-11-04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3291172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pl-PL"/>
              <a:t>Kliknij, aby edytować styl</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solidFill>
              </a:defRPr>
            </a:lvl1pPr>
            <a:lvl2pPr marL="534604" indent="0">
              <a:buNone/>
              <a:defRPr sz="2339">
                <a:solidFill>
                  <a:schemeClr val="tx1">
                    <a:tint val="75000"/>
                  </a:schemeClr>
                </a:solidFill>
              </a:defRPr>
            </a:lvl2pPr>
            <a:lvl3pPr marL="1069208" indent="0">
              <a:buNone/>
              <a:defRPr sz="2105">
                <a:solidFill>
                  <a:schemeClr val="tx1">
                    <a:tint val="75000"/>
                  </a:schemeClr>
                </a:solidFill>
              </a:defRPr>
            </a:lvl3pPr>
            <a:lvl4pPr marL="1603812" indent="0">
              <a:buNone/>
              <a:defRPr sz="1871">
                <a:solidFill>
                  <a:schemeClr val="tx1">
                    <a:tint val="75000"/>
                  </a:schemeClr>
                </a:solidFill>
              </a:defRPr>
            </a:lvl4pPr>
            <a:lvl5pPr marL="2138416" indent="0">
              <a:buNone/>
              <a:defRPr sz="1871">
                <a:solidFill>
                  <a:schemeClr val="tx1">
                    <a:tint val="75000"/>
                  </a:schemeClr>
                </a:solidFill>
              </a:defRPr>
            </a:lvl5pPr>
            <a:lvl6pPr marL="2673020" indent="0">
              <a:buNone/>
              <a:defRPr sz="1871">
                <a:solidFill>
                  <a:schemeClr val="tx1">
                    <a:tint val="75000"/>
                  </a:schemeClr>
                </a:solidFill>
              </a:defRPr>
            </a:lvl6pPr>
            <a:lvl7pPr marL="3207624" indent="0">
              <a:buNone/>
              <a:defRPr sz="1871">
                <a:solidFill>
                  <a:schemeClr val="tx1">
                    <a:tint val="75000"/>
                  </a:schemeClr>
                </a:solidFill>
              </a:defRPr>
            </a:lvl7pPr>
            <a:lvl8pPr marL="3742228" indent="0">
              <a:buNone/>
              <a:defRPr sz="1871">
                <a:solidFill>
                  <a:schemeClr val="tx1">
                    <a:tint val="75000"/>
                  </a:schemeClr>
                </a:solidFill>
              </a:defRPr>
            </a:lvl8pPr>
            <a:lvl9pPr marL="4276832" indent="0">
              <a:buNone/>
              <a:defRPr sz="1871">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FEA1A487-9522-4098-8ABE-F66374D5ED78}" type="datetimeFigureOut">
              <a:rPr lang="en-US" smtClean="0"/>
              <a:t>2020-11-04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671294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FEA1A487-9522-4098-8ABE-F66374D5ED78}" type="datetimeFigureOut">
              <a:rPr lang="en-US" smtClean="0"/>
              <a:t>2020-11-04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18803253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pl-PL"/>
              <a:t>Kliknij, aby edytować styl</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pl-PL"/>
              <a:t>Kliknij, aby edytować style wzorca tekstu</a:t>
            </a:r>
          </a:p>
        </p:txBody>
      </p:sp>
      <p:sp>
        <p:nvSpPr>
          <p:cNvPr id="4" name="Content Placeholder 3"/>
          <p:cNvSpPr>
            <a:spLocks noGrp="1"/>
          </p:cNvSpPr>
          <p:nvPr>
            <p:ph sz="half" idx="2"/>
          </p:nvPr>
        </p:nvSpPr>
        <p:spPr>
          <a:xfrm>
            <a:off x="736456" y="5522763"/>
            <a:ext cx="4523137" cy="8123152"/>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pl-PL"/>
              <a:t>Kliknij, aby edytować style wzorca tekstu</a:t>
            </a:r>
          </a:p>
        </p:txBody>
      </p:sp>
      <p:sp>
        <p:nvSpPr>
          <p:cNvPr id="6" name="Content Placeholder 5"/>
          <p:cNvSpPr>
            <a:spLocks noGrp="1"/>
          </p:cNvSpPr>
          <p:nvPr>
            <p:ph sz="quarter" idx="4"/>
          </p:nvPr>
        </p:nvSpPr>
        <p:spPr>
          <a:xfrm>
            <a:off x="5412731" y="5522763"/>
            <a:ext cx="4545413" cy="8123152"/>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FEA1A487-9522-4098-8ABE-F66374D5ED78}" type="datetimeFigureOut">
              <a:rPr lang="en-US" smtClean="0"/>
              <a:t>2020-11-04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25279541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FEA1A487-9522-4098-8ABE-F66374D5ED78}" type="datetimeFigureOut">
              <a:rPr lang="en-US" smtClean="0"/>
              <a:t>2020-11-04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4019566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A1A487-9522-4098-8ABE-F66374D5ED78}" type="datetimeFigureOut">
              <a:rPr lang="en-US" smtClean="0"/>
              <a:t>2020-11-04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26363493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pl-PL"/>
              <a:t>Kliknij, aby edytować styl</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FEA1A487-9522-4098-8ABE-F66374D5ED78}" type="datetimeFigureOut">
              <a:rPr lang="en-US" smtClean="0"/>
              <a:t>2020-11-04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22473901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pl-PL"/>
              <a:t>Kliknij, aby edytować styl</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pl-PL"/>
              <a:t>Kliknij ikonę, aby dodać obraz</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FEA1A487-9522-4098-8ABE-F66374D5ED78}" type="datetimeFigureOut">
              <a:rPr lang="en-US" smtClean="0"/>
              <a:t>2020-11-04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661157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2020-11-04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12953700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2020-11-04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40857946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pl-PL"/>
              <a:t>Kliknij, aby edytować styl</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75000"/>
                  </a:schemeClr>
                </a:solidFill>
              </a:defRPr>
            </a:lvl1pPr>
          </a:lstStyle>
          <a:p>
            <a:fld id="{FEA1A487-9522-4098-8ABE-F66374D5ED78}" type="datetimeFigureOut">
              <a:rPr lang="en-US" smtClean="0"/>
              <a:t>2020-11-04</a:t>
            </a:fld>
            <a:endParaRPr lang="en-US"/>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75000"/>
                  </a:schemeClr>
                </a:solidFill>
              </a:defRPr>
            </a:lvl1pPr>
          </a:lstStyle>
          <a:p>
            <a:fld id="{D5F63EE0-B453-49BC-87D9-FA8B78EADE74}" type="slidenum">
              <a:rPr lang="en-US" smtClean="0"/>
              <a:t>‹#›</a:t>
            </a:fld>
            <a:endParaRPr lang="en-US"/>
          </a:p>
        </p:txBody>
      </p:sp>
    </p:spTree>
    <p:extLst>
      <p:ext uri="{BB962C8B-B14F-4D97-AF65-F5344CB8AC3E}">
        <p14:creationId xmlns:p14="http://schemas.microsoft.com/office/powerpoint/2010/main" val="69106865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pawelkolman.github.io/" TargetMode="External"/><Relationship Id="rId3" Type="http://schemas.openxmlformats.org/officeDocument/2006/relationships/image" Target="../media/image2.svg"/><Relationship Id="rId7" Type="http://schemas.openxmlformats.org/officeDocument/2006/relationships/hyperlink" Target="http://github.com/pawelkolman" TargetMode="Externa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hyperlink" Target="http://linkedin.com/in/pawelkolman" TargetMode="External"/><Relationship Id="rId5" Type="http://schemas.openxmlformats.org/officeDocument/2006/relationships/hyperlink" Target="tel:+48533331180" TargetMode="External"/><Relationship Id="rId4" Type="http://schemas.openxmlformats.org/officeDocument/2006/relationships/hyperlink" Target="mailto:pawelkolman12@gmai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rostokąt 7">
            <a:extLst>
              <a:ext uri="{FF2B5EF4-FFF2-40B4-BE49-F238E27FC236}">
                <a16:creationId xmlns:a16="http://schemas.microsoft.com/office/drawing/2014/main" id="{4714AE32-224F-476E-A874-C55D422ADE95}"/>
              </a:ext>
            </a:extLst>
          </p:cNvPr>
          <p:cNvSpPr/>
          <p:nvPr/>
        </p:nvSpPr>
        <p:spPr>
          <a:xfrm>
            <a:off x="0" y="0"/>
            <a:ext cx="3600450" cy="151193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fika 3">
            <a:extLst>
              <a:ext uri="{FF2B5EF4-FFF2-40B4-BE49-F238E27FC236}">
                <a16:creationId xmlns:a16="http://schemas.microsoft.com/office/drawing/2014/main" id="{8185397E-98BB-43BA-9B9C-ACB2EE0FFD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29458" y="612403"/>
            <a:ext cx="1141534" cy="1141534"/>
          </a:xfrm>
          <a:prstGeom prst="rect">
            <a:avLst/>
          </a:prstGeom>
        </p:spPr>
      </p:pic>
      <p:sp>
        <p:nvSpPr>
          <p:cNvPr id="9" name="pole tekstowe 8">
            <a:extLst>
              <a:ext uri="{FF2B5EF4-FFF2-40B4-BE49-F238E27FC236}">
                <a16:creationId xmlns:a16="http://schemas.microsoft.com/office/drawing/2014/main" id="{81101CB7-62AE-4944-99D4-D3D9E97B0310}"/>
              </a:ext>
            </a:extLst>
          </p:cNvPr>
          <p:cNvSpPr txBox="1"/>
          <p:nvPr/>
        </p:nvSpPr>
        <p:spPr>
          <a:xfrm>
            <a:off x="160020" y="2250946"/>
            <a:ext cx="3280410" cy="584775"/>
          </a:xfrm>
          <a:prstGeom prst="rect">
            <a:avLst/>
          </a:prstGeom>
          <a:noFill/>
        </p:spPr>
        <p:txBody>
          <a:bodyPr wrap="square" rtlCol="0">
            <a:spAutoFit/>
          </a:bodyPr>
          <a:lstStyle/>
          <a:p>
            <a:pPr algn="ctr"/>
            <a:r>
              <a:rPr lang="en-US" sz="3200">
                <a:solidFill>
                  <a:schemeClr val="bg1"/>
                </a:solidFill>
                <a:latin typeface="Poppins" panose="00000500000000000000" pitchFamily="2" charset="0"/>
                <a:cs typeface="Poppins" panose="00000500000000000000" pitchFamily="2" charset="0"/>
              </a:rPr>
              <a:t>Paweł Kolman</a:t>
            </a:r>
          </a:p>
        </p:txBody>
      </p:sp>
      <p:sp>
        <p:nvSpPr>
          <p:cNvPr id="10" name="pole tekstowe 9">
            <a:extLst>
              <a:ext uri="{FF2B5EF4-FFF2-40B4-BE49-F238E27FC236}">
                <a16:creationId xmlns:a16="http://schemas.microsoft.com/office/drawing/2014/main" id="{903237CF-262A-4F5F-8A2E-8DABB9CDB608}"/>
              </a:ext>
            </a:extLst>
          </p:cNvPr>
          <p:cNvSpPr txBox="1"/>
          <p:nvPr/>
        </p:nvSpPr>
        <p:spPr>
          <a:xfrm>
            <a:off x="160020" y="2732280"/>
            <a:ext cx="3280410" cy="400110"/>
          </a:xfrm>
          <a:prstGeom prst="rect">
            <a:avLst/>
          </a:prstGeom>
          <a:noFill/>
        </p:spPr>
        <p:txBody>
          <a:bodyPr wrap="square" rtlCol="0">
            <a:spAutoFit/>
          </a:bodyPr>
          <a:lstStyle/>
          <a:p>
            <a:pPr algn="ctr"/>
            <a:r>
              <a:rPr lang="en-US" sz="2000">
                <a:solidFill>
                  <a:schemeClr val="bg1"/>
                </a:solidFill>
                <a:latin typeface="Poppins ExtraLight" panose="00000300000000000000" pitchFamily="2" charset="0"/>
                <a:cs typeface="Poppins ExtraLight" panose="00000300000000000000" pitchFamily="2" charset="0"/>
              </a:rPr>
              <a:t>Full Stack Developer</a:t>
            </a:r>
          </a:p>
        </p:txBody>
      </p:sp>
      <p:sp>
        <p:nvSpPr>
          <p:cNvPr id="13" name="pole tekstowe 12">
            <a:extLst>
              <a:ext uri="{FF2B5EF4-FFF2-40B4-BE49-F238E27FC236}">
                <a16:creationId xmlns:a16="http://schemas.microsoft.com/office/drawing/2014/main" id="{2808479D-13B1-4DB4-A67F-BCDBD24554E4}"/>
              </a:ext>
            </a:extLst>
          </p:cNvPr>
          <p:cNvSpPr txBox="1"/>
          <p:nvPr/>
        </p:nvSpPr>
        <p:spPr>
          <a:xfrm>
            <a:off x="160020" y="3705897"/>
            <a:ext cx="3280410" cy="1569660"/>
          </a:xfrm>
          <a:prstGeom prst="rect">
            <a:avLst/>
          </a:prstGeom>
          <a:noFill/>
        </p:spPr>
        <p:txBody>
          <a:bodyPr wrap="square" rtlCol="0">
            <a:spAutoFit/>
          </a:bodyPr>
          <a:lstStyle/>
          <a:p>
            <a:r>
              <a:rPr lang="en-US" sz="1600">
                <a:solidFill>
                  <a:schemeClr val="bg1">
                    <a:lumMod val="85000"/>
                  </a:schemeClr>
                </a:solidFill>
                <a:latin typeface="Poppins" panose="00000500000000000000" pitchFamily="2" charset="0"/>
                <a:cs typeface="Poppins" panose="00000500000000000000" pitchFamily="2" charset="0"/>
              </a:rPr>
              <a:t>Wrocław, Poland</a:t>
            </a:r>
          </a:p>
          <a:p>
            <a:r>
              <a:rPr lang="en-US" sz="1600">
                <a:solidFill>
                  <a:schemeClr val="bg1">
                    <a:lumMod val="85000"/>
                  </a:schemeClr>
                </a:solidFill>
                <a:latin typeface="Poppins" panose="00000500000000000000" pitchFamily="2" charset="0"/>
                <a:cs typeface="Poppins" panose="00000500000000000000" pitchFamily="2" charset="0"/>
              </a:rPr>
              <a:t>pawelkolman12@gmail.com</a:t>
            </a:r>
          </a:p>
          <a:p>
            <a:r>
              <a:rPr lang="en-US" sz="1600">
                <a:solidFill>
                  <a:schemeClr val="bg1">
                    <a:lumMod val="85000"/>
                  </a:schemeClr>
                </a:solidFill>
                <a:latin typeface="Poppins" panose="00000500000000000000" pitchFamily="2" charset="0"/>
                <a:cs typeface="Poppins" panose="00000500000000000000" pitchFamily="2" charset="0"/>
              </a:rPr>
              <a:t>+48 533 331 180</a:t>
            </a:r>
          </a:p>
          <a:p>
            <a:endParaRPr lang="en-US" sz="1600">
              <a:solidFill>
                <a:schemeClr val="bg1">
                  <a:lumMod val="85000"/>
                </a:schemeClr>
              </a:solidFill>
              <a:latin typeface="Poppins" panose="00000500000000000000" pitchFamily="2" charset="0"/>
              <a:cs typeface="Poppins" panose="00000500000000000000" pitchFamily="2" charset="0"/>
            </a:endParaRPr>
          </a:p>
          <a:p>
            <a:r>
              <a:rPr lang="en-US" sz="1600">
                <a:solidFill>
                  <a:schemeClr val="bg1">
                    <a:lumMod val="85000"/>
                  </a:schemeClr>
                </a:solidFill>
                <a:latin typeface="Poppins" panose="00000500000000000000" pitchFamily="2" charset="0"/>
                <a:cs typeface="Poppins" panose="00000500000000000000" pitchFamily="2" charset="0"/>
              </a:rPr>
              <a:t>linkedin.com/in/pawelkolmangithub.com/pawelkolman</a:t>
            </a:r>
          </a:p>
        </p:txBody>
      </p:sp>
      <p:sp>
        <p:nvSpPr>
          <p:cNvPr id="7" name="pole tekstowe 6">
            <a:extLst>
              <a:ext uri="{FF2B5EF4-FFF2-40B4-BE49-F238E27FC236}">
                <a16:creationId xmlns:a16="http://schemas.microsoft.com/office/drawing/2014/main" id="{E6E88F8E-DD65-43CE-AD57-FE0E8E1FB748}"/>
              </a:ext>
            </a:extLst>
          </p:cNvPr>
          <p:cNvSpPr txBox="1"/>
          <p:nvPr/>
        </p:nvSpPr>
        <p:spPr>
          <a:xfrm>
            <a:off x="160020" y="5869180"/>
            <a:ext cx="3280410" cy="400110"/>
          </a:xfrm>
          <a:prstGeom prst="rect">
            <a:avLst/>
          </a:prstGeom>
          <a:noFill/>
        </p:spPr>
        <p:txBody>
          <a:bodyPr wrap="square" rtlCol="0">
            <a:spAutoFit/>
          </a:bodyPr>
          <a:lstStyle/>
          <a:p>
            <a:pPr algn="ctr"/>
            <a:r>
              <a:rPr lang="en-US" sz="2000">
                <a:solidFill>
                  <a:schemeClr val="bg1"/>
                </a:solidFill>
                <a:latin typeface="Poppins Light" panose="00000400000000000000" pitchFamily="2" charset="0"/>
                <a:cs typeface="Poppins Light" panose="00000400000000000000" pitchFamily="2" charset="0"/>
              </a:rPr>
              <a:t>SKILLS</a:t>
            </a:r>
          </a:p>
        </p:txBody>
      </p:sp>
      <p:cxnSp>
        <p:nvCxnSpPr>
          <p:cNvPr id="3" name="Łącznik prosty 2">
            <a:extLst>
              <a:ext uri="{FF2B5EF4-FFF2-40B4-BE49-F238E27FC236}">
                <a16:creationId xmlns:a16="http://schemas.microsoft.com/office/drawing/2014/main" id="{EB9D54D2-DD35-4CC0-BA0D-D22598BBAA1F}"/>
              </a:ext>
            </a:extLst>
          </p:cNvPr>
          <p:cNvCxnSpPr>
            <a:cxnSpLocks/>
          </p:cNvCxnSpPr>
          <p:nvPr/>
        </p:nvCxnSpPr>
        <p:spPr>
          <a:xfrm>
            <a:off x="261424" y="6060216"/>
            <a:ext cx="9680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Łącznik prosty 13">
            <a:extLst>
              <a:ext uri="{FF2B5EF4-FFF2-40B4-BE49-F238E27FC236}">
                <a16:creationId xmlns:a16="http://schemas.microsoft.com/office/drawing/2014/main" id="{8730C7F2-C5E4-4CAC-A848-358AC0D97C81}"/>
              </a:ext>
            </a:extLst>
          </p:cNvPr>
          <p:cNvCxnSpPr>
            <a:cxnSpLocks/>
          </p:cNvCxnSpPr>
          <p:nvPr/>
        </p:nvCxnSpPr>
        <p:spPr>
          <a:xfrm>
            <a:off x="2385499" y="6060216"/>
            <a:ext cx="9680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pole tekstowe 14">
            <a:extLst>
              <a:ext uri="{FF2B5EF4-FFF2-40B4-BE49-F238E27FC236}">
                <a16:creationId xmlns:a16="http://schemas.microsoft.com/office/drawing/2014/main" id="{D70CBE44-03D5-48F7-89B8-26FF08330984}"/>
              </a:ext>
            </a:extLst>
          </p:cNvPr>
          <p:cNvSpPr txBox="1"/>
          <p:nvPr/>
        </p:nvSpPr>
        <p:spPr>
          <a:xfrm>
            <a:off x="160020" y="6460326"/>
            <a:ext cx="3280410" cy="2369880"/>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Front End</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HTML</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CSS</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SASS</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Bootstrap</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JavaScript</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jQuery</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AJAX</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UI &amp; UX</a:t>
            </a:r>
          </a:p>
        </p:txBody>
      </p:sp>
      <p:sp>
        <p:nvSpPr>
          <p:cNvPr id="16" name="pole tekstowe 15">
            <a:extLst>
              <a:ext uri="{FF2B5EF4-FFF2-40B4-BE49-F238E27FC236}">
                <a16:creationId xmlns:a16="http://schemas.microsoft.com/office/drawing/2014/main" id="{F9F33FF1-A03C-42FD-A555-88A5E7376397}"/>
              </a:ext>
            </a:extLst>
          </p:cNvPr>
          <p:cNvSpPr txBox="1"/>
          <p:nvPr/>
        </p:nvSpPr>
        <p:spPr>
          <a:xfrm>
            <a:off x="160020" y="9109132"/>
            <a:ext cx="3280410" cy="1631216"/>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Back End</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Python</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Django</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PHP</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SQL</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REST API</a:t>
            </a:r>
          </a:p>
        </p:txBody>
      </p:sp>
      <p:sp>
        <p:nvSpPr>
          <p:cNvPr id="17" name="pole tekstowe 16">
            <a:extLst>
              <a:ext uri="{FF2B5EF4-FFF2-40B4-BE49-F238E27FC236}">
                <a16:creationId xmlns:a16="http://schemas.microsoft.com/office/drawing/2014/main" id="{378CAD33-AF0A-4189-8D7A-E9E3AA22E6E7}"/>
              </a:ext>
            </a:extLst>
          </p:cNvPr>
          <p:cNvSpPr txBox="1"/>
          <p:nvPr/>
        </p:nvSpPr>
        <p:spPr>
          <a:xfrm>
            <a:off x="3815862" y="13916844"/>
            <a:ext cx="6660538" cy="1061829"/>
          </a:xfrm>
          <a:prstGeom prst="rect">
            <a:avLst/>
          </a:prstGeom>
          <a:noFill/>
        </p:spPr>
        <p:txBody>
          <a:bodyPr wrap="square" rtlCol="0">
            <a:spAutoFit/>
          </a:bodyPr>
          <a:lstStyle/>
          <a:p>
            <a:pPr algn="just"/>
            <a:r>
              <a:rPr lang="en-US" sz="1050">
                <a:solidFill>
                  <a:schemeClr val="bg1">
                    <a:lumMod val="50000"/>
                  </a:schemeClr>
                </a:solidFill>
                <a:latin typeface="Poppins Light" panose="00000400000000000000" pitchFamily="2" charset="0"/>
                <a:cs typeface="Poppins Light" panose="00000400000000000000" pitchFamily="2" charset="0"/>
              </a:rPr>
              <a:t>I agree to the processing of personal data provided in this document for realizing the recruitment process and future recruitment processes pursuant to the Personal Data Protection Act of 10 May 2018 (Journal of Laws 2018, item 1000) and in agreement with Regulation (EU) 2016/679 of the European Parliament and of the Council of 27 April 2016 on the protection of natural persons with regard to the processing of personal data and on the free movement of such data, and repealing Directive 95/46/EC (General Data Protection Regulation).</a:t>
            </a:r>
          </a:p>
        </p:txBody>
      </p:sp>
      <p:sp>
        <p:nvSpPr>
          <p:cNvPr id="18" name="pole tekstowe 17">
            <a:extLst>
              <a:ext uri="{FF2B5EF4-FFF2-40B4-BE49-F238E27FC236}">
                <a16:creationId xmlns:a16="http://schemas.microsoft.com/office/drawing/2014/main" id="{627B584E-6239-41BF-AD32-2B091665F4B2}"/>
              </a:ext>
            </a:extLst>
          </p:cNvPr>
          <p:cNvSpPr txBox="1"/>
          <p:nvPr/>
        </p:nvSpPr>
        <p:spPr>
          <a:xfrm>
            <a:off x="160020" y="12845897"/>
            <a:ext cx="3280410" cy="646331"/>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Language</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English at B2 level</a:t>
            </a:r>
          </a:p>
        </p:txBody>
      </p:sp>
      <p:sp>
        <p:nvSpPr>
          <p:cNvPr id="19" name="pole tekstowe 18">
            <a:extLst>
              <a:ext uri="{FF2B5EF4-FFF2-40B4-BE49-F238E27FC236}">
                <a16:creationId xmlns:a16="http://schemas.microsoft.com/office/drawing/2014/main" id="{5B23F5DF-5E70-4B3E-99BE-08C701B893F6}"/>
              </a:ext>
            </a:extLst>
          </p:cNvPr>
          <p:cNvSpPr txBox="1"/>
          <p:nvPr/>
        </p:nvSpPr>
        <p:spPr>
          <a:xfrm>
            <a:off x="160020" y="11019274"/>
            <a:ext cx="3280410" cy="1631216"/>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Miscellaneous</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Git</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Photoshop</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Premiere Pro</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Java</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C++</a:t>
            </a:r>
          </a:p>
        </p:txBody>
      </p:sp>
      <p:sp>
        <p:nvSpPr>
          <p:cNvPr id="24" name="pole tekstowe 23">
            <a:extLst>
              <a:ext uri="{FF2B5EF4-FFF2-40B4-BE49-F238E27FC236}">
                <a16:creationId xmlns:a16="http://schemas.microsoft.com/office/drawing/2014/main" id="{B73F85E2-0491-49F1-BAFD-8FD7C2B7E3CF}"/>
              </a:ext>
            </a:extLst>
          </p:cNvPr>
          <p:cNvSpPr txBox="1"/>
          <p:nvPr/>
        </p:nvSpPr>
        <p:spPr>
          <a:xfrm>
            <a:off x="160020" y="14038442"/>
            <a:ext cx="3280410" cy="400110"/>
          </a:xfrm>
          <a:prstGeom prst="rect">
            <a:avLst/>
          </a:prstGeom>
          <a:noFill/>
        </p:spPr>
        <p:txBody>
          <a:bodyPr wrap="square" rtlCol="0">
            <a:spAutoFit/>
          </a:bodyPr>
          <a:lstStyle/>
          <a:p>
            <a:pPr algn="ctr"/>
            <a:r>
              <a:rPr lang="en-US" sz="2000">
                <a:solidFill>
                  <a:schemeClr val="bg1"/>
                </a:solidFill>
                <a:latin typeface="Poppins Light" panose="00000400000000000000" pitchFamily="2" charset="0"/>
                <a:cs typeface="Poppins Light" panose="00000400000000000000" pitchFamily="2" charset="0"/>
              </a:rPr>
              <a:t>PORTFOLIO</a:t>
            </a:r>
          </a:p>
        </p:txBody>
      </p:sp>
      <p:cxnSp>
        <p:nvCxnSpPr>
          <p:cNvPr id="25" name="Łącznik prosty 24">
            <a:extLst>
              <a:ext uri="{FF2B5EF4-FFF2-40B4-BE49-F238E27FC236}">
                <a16:creationId xmlns:a16="http://schemas.microsoft.com/office/drawing/2014/main" id="{D755FAC3-A364-4E81-9830-65C64F70D5C7}"/>
              </a:ext>
            </a:extLst>
          </p:cNvPr>
          <p:cNvCxnSpPr>
            <a:cxnSpLocks/>
          </p:cNvCxnSpPr>
          <p:nvPr/>
        </p:nvCxnSpPr>
        <p:spPr>
          <a:xfrm>
            <a:off x="261424" y="14229478"/>
            <a:ext cx="65773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2" name="Łącznik prosty 31">
            <a:extLst>
              <a:ext uri="{FF2B5EF4-FFF2-40B4-BE49-F238E27FC236}">
                <a16:creationId xmlns:a16="http://schemas.microsoft.com/office/drawing/2014/main" id="{43DC54AE-A0D4-4181-83A8-6C48D2FA053C}"/>
              </a:ext>
            </a:extLst>
          </p:cNvPr>
          <p:cNvCxnSpPr>
            <a:cxnSpLocks/>
          </p:cNvCxnSpPr>
          <p:nvPr/>
        </p:nvCxnSpPr>
        <p:spPr>
          <a:xfrm>
            <a:off x="2695794" y="14229478"/>
            <a:ext cx="65773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3" name="pole tekstowe 32">
            <a:extLst>
              <a:ext uri="{FF2B5EF4-FFF2-40B4-BE49-F238E27FC236}">
                <a16:creationId xmlns:a16="http://schemas.microsoft.com/office/drawing/2014/main" id="{A2994E1D-0C08-493E-83B1-721179B6DD07}"/>
              </a:ext>
            </a:extLst>
          </p:cNvPr>
          <p:cNvSpPr txBox="1"/>
          <p:nvPr/>
        </p:nvSpPr>
        <p:spPr>
          <a:xfrm>
            <a:off x="160020" y="14506947"/>
            <a:ext cx="3280410" cy="338554"/>
          </a:xfrm>
          <a:prstGeom prst="rect">
            <a:avLst/>
          </a:prstGeom>
          <a:noFill/>
        </p:spPr>
        <p:txBody>
          <a:bodyPr wrap="square" rtlCol="0">
            <a:spAutoFit/>
          </a:bodyPr>
          <a:lstStyle/>
          <a:p>
            <a:pPr algn="ctr"/>
            <a:r>
              <a:rPr lang="en-US" sz="1600">
                <a:solidFill>
                  <a:schemeClr val="bg1">
                    <a:lumMod val="85000"/>
                  </a:schemeClr>
                </a:solidFill>
                <a:latin typeface="Poppins Light" panose="00000400000000000000" pitchFamily="2" charset="0"/>
                <a:cs typeface="Poppins Light" panose="00000400000000000000" pitchFamily="2" charset="0"/>
              </a:rPr>
              <a:t>pawelkolman.github.io</a:t>
            </a:r>
            <a:endParaRPr lang="en-US" sz="1200">
              <a:solidFill>
                <a:schemeClr val="bg1">
                  <a:lumMod val="85000"/>
                </a:schemeClr>
              </a:solidFill>
              <a:latin typeface="Poppins Light" panose="00000400000000000000" pitchFamily="2" charset="0"/>
              <a:cs typeface="Poppins Light" panose="00000400000000000000" pitchFamily="2" charset="0"/>
            </a:endParaRPr>
          </a:p>
        </p:txBody>
      </p:sp>
      <p:sp>
        <p:nvSpPr>
          <p:cNvPr id="34" name="pole tekstowe 33">
            <a:extLst>
              <a:ext uri="{FF2B5EF4-FFF2-40B4-BE49-F238E27FC236}">
                <a16:creationId xmlns:a16="http://schemas.microsoft.com/office/drawing/2014/main" id="{55CA2627-75B0-429C-882D-64A3DFD8F8CB}"/>
              </a:ext>
            </a:extLst>
          </p:cNvPr>
          <p:cNvSpPr txBox="1"/>
          <p:nvPr/>
        </p:nvSpPr>
        <p:spPr>
          <a:xfrm>
            <a:off x="3815862" y="476820"/>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Experience</a:t>
            </a:r>
            <a:endParaRPr lang="en-US" sz="2400">
              <a:latin typeface="Poppins Light" panose="00000400000000000000" pitchFamily="2" charset="0"/>
              <a:cs typeface="Poppins Light" panose="00000400000000000000" pitchFamily="2" charset="0"/>
            </a:endParaRPr>
          </a:p>
        </p:txBody>
      </p:sp>
      <p:sp>
        <p:nvSpPr>
          <p:cNvPr id="36" name="pole tekstowe 35">
            <a:extLst>
              <a:ext uri="{FF2B5EF4-FFF2-40B4-BE49-F238E27FC236}">
                <a16:creationId xmlns:a16="http://schemas.microsoft.com/office/drawing/2014/main" id="{F7894281-8779-4D75-8207-0FF8BB9E5182}"/>
              </a:ext>
            </a:extLst>
          </p:cNvPr>
          <p:cNvSpPr txBox="1"/>
          <p:nvPr/>
        </p:nvSpPr>
        <p:spPr>
          <a:xfrm>
            <a:off x="3815862" y="1093754"/>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Full Stack Developer</a:t>
            </a:r>
          </a:p>
        </p:txBody>
      </p:sp>
      <p:sp>
        <p:nvSpPr>
          <p:cNvPr id="37" name="pole tekstowe 36">
            <a:extLst>
              <a:ext uri="{FF2B5EF4-FFF2-40B4-BE49-F238E27FC236}">
                <a16:creationId xmlns:a16="http://schemas.microsoft.com/office/drawing/2014/main" id="{2AD44C9F-E6B3-44BA-A097-298AB5429C81}"/>
              </a:ext>
            </a:extLst>
          </p:cNvPr>
          <p:cNvSpPr txBox="1"/>
          <p:nvPr/>
        </p:nvSpPr>
        <p:spPr>
          <a:xfrm>
            <a:off x="8124092" y="1093754"/>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09.2019 - now</a:t>
            </a:r>
          </a:p>
        </p:txBody>
      </p:sp>
      <p:sp>
        <p:nvSpPr>
          <p:cNvPr id="38" name="pole tekstowe 37">
            <a:extLst>
              <a:ext uri="{FF2B5EF4-FFF2-40B4-BE49-F238E27FC236}">
                <a16:creationId xmlns:a16="http://schemas.microsoft.com/office/drawing/2014/main" id="{54030E15-4551-4D8D-A80A-52890E943778}"/>
              </a:ext>
            </a:extLst>
          </p:cNvPr>
          <p:cNvSpPr txBox="1"/>
          <p:nvPr/>
        </p:nvSpPr>
        <p:spPr>
          <a:xfrm>
            <a:off x="3815862" y="1377910"/>
            <a:ext cx="6660538" cy="338554"/>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PK (Self-employed)</a:t>
            </a:r>
          </a:p>
        </p:txBody>
      </p:sp>
      <p:sp>
        <p:nvSpPr>
          <p:cNvPr id="39" name="pole tekstowe 38">
            <a:extLst>
              <a:ext uri="{FF2B5EF4-FFF2-40B4-BE49-F238E27FC236}">
                <a16:creationId xmlns:a16="http://schemas.microsoft.com/office/drawing/2014/main" id="{09B19ADA-7EAD-429B-BF13-5A7170D724D0}"/>
              </a:ext>
            </a:extLst>
          </p:cNvPr>
          <p:cNvSpPr txBox="1"/>
          <p:nvPr/>
        </p:nvSpPr>
        <p:spPr>
          <a:xfrm>
            <a:off x="3815862" y="1950170"/>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Web Developer</a:t>
            </a:r>
          </a:p>
        </p:txBody>
      </p:sp>
      <p:sp>
        <p:nvSpPr>
          <p:cNvPr id="40" name="pole tekstowe 39">
            <a:extLst>
              <a:ext uri="{FF2B5EF4-FFF2-40B4-BE49-F238E27FC236}">
                <a16:creationId xmlns:a16="http://schemas.microsoft.com/office/drawing/2014/main" id="{28863D5B-F92B-4400-ABB3-0FAA4FAFB909}"/>
              </a:ext>
            </a:extLst>
          </p:cNvPr>
          <p:cNvSpPr txBox="1"/>
          <p:nvPr/>
        </p:nvSpPr>
        <p:spPr>
          <a:xfrm>
            <a:off x="8124092" y="1950170"/>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08.2015 - 06.2019</a:t>
            </a:r>
          </a:p>
        </p:txBody>
      </p:sp>
      <p:sp>
        <p:nvSpPr>
          <p:cNvPr id="41" name="pole tekstowe 40">
            <a:extLst>
              <a:ext uri="{FF2B5EF4-FFF2-40B4-BE49-F238E27FC236}">
                <a16:creationId xmlns:a16="http://schemas.microsoft.com/office/drawing/2014/main" id="{574602B2-F9A9-4E47-8365-35B1F038E82B}"/>
              </a:ext>
            </a:extLst>
          </p:cNvPr>
          <p:cNvSpPr txBox="1"/>
          <p:nvPr/>
        </p:nvSpPr>
        <p:spPr>
          <a:xfrm>
            <a:off x="3815862" y="2234326"/>
            <a:ext cx="6660538" cy="338554"/>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Scorpion Dance Team (Contract)</a:t>
            </a:r>
          </a:p>
        </p:txBody>
      </p:sp>
      <p:sp>
        <p:nvSpPr>
          <p:cNvPr id="42" name="pole tekstowe 41">
            <a:extLst>
              <a:ext uri="{FF2B5EF4-FFF2-40B4-BE49-F238E27FC236}">
                <a16:creationId xmlns:a16="http://schemas.microsoft.com/office/drawing/2014/main" id="{408DE1C4-FBEE-4CEE-B385-2CF845B6B7D8}"/>
              </a:ext>
            </a:extLst>
          </p:cNvPr>
          <p:cNvSpPr txBox="1"/>
          <p:nvPr/>
        </p:nvSpPr>
        <p:spPr>
          <a:xfrm>
            <a:off x="3827146" y="2854217"/>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Education</a:t>
            </a:r>
            <a:endParaRPr lang="en-US" sz="2400">
              <a:latin typeface="Poppins Light" panose="00000400000000000000" pitchFamily="2" charset="0"/>
              <a:cs typeface="Poppins Light" panose="00000400000000000000" pitchFamily="2" charset="0"/>
            </a:endParaRPr>
          </a:p>
        </p:txBody>
      </p:sp>
      <p:sp>
        <p:nvSpPr>
          <p:cNvPr id="43" name="pole tekstowe 42">
            <a:extLst>
              <a:ext uri="{FF2B5EF4-FFF2-40B4-BE49-F238E27FC236}">
                <a16:creationId xmlns:a16="http://schemas.microsoft.com/office/drawing/2014/main" id="{A36430DA-BB0C-4192-909A-71A6A79884B3}"/>
              </a:ext>
            </a:extLst>
          </p:cNvPr>
          <p:cNvSpPr txBox="1"/>
          <p:nvPr/>
        </p:nvSpPr>
        <p:spPr>
          <a:xfrm>
            <a:off x="3827146" y="3471151"/>
            <a:ext cx="4308230" cy="646331"/>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Wrocław University of Science and Technology</a:t>
            </a:r>
          </a:p>
        </p:txBody>
      </p:sp>
      <p:sp>
        <p:nvSpPr>
          <p:cNvPr id="44" name="pole tekstowe 43">
            <a:extLst>
              <a:ext uri="{FF2B5EF4-FFF2-40B4-BE49-F238E27FC236}">
                <a16:creationId xmlns:a16="http://schemas.microsoft.com/office/drawing/2014/main" id="{15BC0B38-8658-4ED3-8C3F-F9C2A0B88832}"/>
              </a:ext>
            </a:extLst>
          </p:cNvPr>
          <p:cNvSpPr txBox="1"/>
          <p:nvPr/>
        </p:nvSpPr>
        <p:spPr>
          <a:xfrm>
            <a:off x="8135376" y="3471151"/>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2019 - now</a:t>
            </a:r>
          </a:p>
        </p:txBody>
      </p:sp>
      <p:sp>
        <p:nvSpPr>
          <p:cNvPr id="45" name="pole tekstowe 44">
            <a:extLst>
              <a:ext uri="{FF2B5EF4-FFF2-40B4-BE49-F238E27FC236}">
                <a16:creationId xmlns:a16="http://schemas.microsoft.com/office/drawing/2014/main" id="{8D5CE5C1-D0EE-4E92-BE3E-ACFC2BABEF85}"/>
              </a:ext>
            </a:extLst>
          </p:cNvPr>
          <p:cNvSpPr txBox="1"/>
          <p:nvPr/>
        </p:nvSpPr>
        <p:spPr>
          <a:xfrm>
            <a:off x="3827146" y="4062757"/>
            <a:ext cx="6660538" cy="584775"/>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Applied Computer Science, Faculty of Computer Science and Management</a:t>
            </a:r>
          </a:p>
        </p:txBody>
      </p:sp>
      <p:sp>
        <p:nvSpPr>
          <p:cNvPr id="49" name="pole tekstowe 48">
            <a:extLst>
              <a:ext uri="{FF2B5EF4-FFF2-40B4-BE49-F238E27FC236}">
                <a16:creationId xmlns:a16="http://schemas.microsoft.com/office/drawing/2014/main" id="{741D8379-8A50-4CA5-9989-A2233ACE2474}"/>
              </a:ext>
            </a:extLst>
          </p:cNvPr>
          <p:cNvSpPr txBox="1"/>
          <p:nvPr/>
        </p:nvSpPr>
        <p:spPr>
          <a:xfrm>
            <a:off x="3827146" y="4886062"/>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Technical School no. 5 in Opole</a:t>
            </a:r>
          </a:p>
        </p:txBody>
      </p:sp>
      <p:sp>
        <p:nvSpPr>
          <p:cNvPr id="50" name="pole tekstowe 49">
            <a:extLst>
              <a:ext uri="{FF2B5EF4-FFF2-40B4-BE49-F238E27FC236}">
                <a16:creationId xmlns:a16="http://schemas.microsoft.com/office/drawing/2014/main" id="{7C57CD16-2DEC-49C6-8B20-CF2C710F8607}"/>
              </a:ext>
            </a:extLst>
          </p:cNvPr>
          <p:cNvSpPr txBox="1"/>
          <p:nvPr/>
        </p:nvSpPr>
        <p:spPr>
          <a:xfrm>
            <a:off x="8135376" y="4886062"/>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2015 - 2019</a:t>
            </a:r>
          </a:p>
        </p:txBody>
      </p:sp>
      <p:sp>
        <p:nvSpPr>
          <p:cNvPr id="51" name="pole tekstowe 50">
            <a:extLst>
              <a:ext uri="{FF2B5EF4-FFF2-40B4-BE49-F238E27FC236}">
                <a16:creationId xmlns:a16="http://schemas.microsoft.com/office/drawing/2014/main" id="{7D8E36F7-53CA-4209-8AA6-CFCA21BB69A9}"/>
              </a:ext>
            </a:extLst>
          </p:cNvPr>
          <p:cNvSpPr txBox="1"/>
          <p:nvPr/>
        </p:nvSpPr>
        <p:spPr>
          <a:xfrm>
            <a:off x="3827146" y="5170218"/>
            <a:ext cx="6660538" cy="338554"/>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IT Specialist</a:t>
            </a:r>
          </a:p>
        </p:txBody>
      </p:sp>
      <p:sp>
        <p:nvSpPr>
          <p:cNvPr id="52" name="pole tekstowe 51">
            <a:extLst>
              <a:ext uri="{FF2B5EF4-FFF2-40B4-BE49-F238E27FC236}">
                <a16:creationId xmlns:a16="http://schemas.microsoft.com/office/drawing/2014/main" id="{F7C5404A-A77D-43BB-86CE-AEF4C1B0A66D}"/>
              </a:ext>
            </a:extLst>
          </p:cNvPr>
          <p:cNvSpPr txBox="1"/>
          <p:nvPr/>
        </p:nvSpPr>
        <p:spPr>
          <a:xfrm>
            <a:off x="3827146" y="5993355"/>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Projects</a:t>
            </a:r>
            <a:endParaRPr lang="en-US" sz="2400">
              <a:latin typeface="Poppins Light" panose="00000400000000000000" pitchFamily="2" charset="0"/>
              <a:cs typeface="Poppins Light" panose="00000400000000000000" pitchFamily="2" charset="0"/>
            </a:endParaRPr>
          </a:p>
        </p:txBody>
      </p:sp>
      <p:sp>
        <p:nvSpPr>
          <p:cNvPr id="53" name="pole tekstowe 52">
            <a:extLst>
              <a:ext uri="{FF2B5EF4-FFF2-40B4-BE49-F238E27FC236}">
                <a16:creationId xmlns:a16="http://schemas.microsoft.com/office/drawing/2014/main" id="{E512FF0C-7AC6-4CA2-8F1D-5740433DA60D}"/>
              </a:ext>
            </a:extLst>
          </p:cNvPr>
          <p:cNvSpPr txBox="1"/>
          <p:nvPr/>
        </p:nvSpPr>
        <p:spPr>
          <a:xfrm>
            <a:off x="3827146" y="6610289"/>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danceit.pl</a:t>
            </a:r>
          </a:p>
        </p:txBody>
      </p:sp>
      <p:sp>
        <p:nvSpPr>
          <p:cNvPr id="55" name="pole tekstowe 54">
            <a:extLst>
              <a:ext uri="{FF2B5EF4-FFF2-40B4-BE49-F238E27FC236}">
                <a16:creationId xmlns:a16="http://schemas.microsoft.com/office/drawing/2014/main" id="{6D66681F-B2B8-4648-B2E6-304F58EA4F68}"/>
              </a:ext>
            </a:extLst>
          </p:cNvPr>
          <p:cNvSpPr txBox="1"/>
          <p:nvPr/>
        </p:nvSpPr>
        <p:spPr>
          <a:xfrm>
            <a:off x="3827146" y="6894445"/>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PHP, HTML, CSS, Bootstrap, JavaScript, jQuery, AJAX, MySQL</a:t>
            </a:r>
          </a:p>
        </p:txBody>
      </p:sp>
      <p:sp>
        <p:nvSpPr>
          <p:cNvPr id="59" name="pole tekstowe 58">
            <a:extLst>
              <a:ext uri="{FF2B5EF4-FFF2-40B4-BE49-F238E27FC236}">
                <a16:creationId xmlns:a16="http://schemas.microsoft.com/office/drawing/2014/main" id="{B41D8C2A-1ABB-4257-845A-ABE0BCDC0446}"/>
              </a:ext>
            </a:extLst>
          </p:cNvPr>
          <p:cNvSpPr txBox="1"/>
          <p:nvPr/>
        </p:nvSpPr>
        <p:spPr>
          <a:xfrm>
            <a:off x="3827146" y="7158994"/>
            <a:ext cx="6660538" cy="1015663"/>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Web application supporting the organization of dance competitions, created by me from the idea, through the database design, back-end, front-end, to release and distribution. Supports registration, applications control, live schedule, scoring, mailing and a lot of useful dance world stuff. More than 20 000 registered dancers, over 700 registered dance schools and more than 50 competitions where danceit was used.</a:t>
            </a:r>
          </a:p>
        </p:txBody>
      </p:sp>
      <p:sp>
        <p:nvSpPr>
          <p:cNvPr id="60" name="pole tekstowe 59">
            <a:extLst>
              <a:ext uri="{FF2B5EF4-FFF2-40B4-BE49-F238E27FC236}">
                <a16:creationId xmlns:a16="http://schemas.microsoft.com/office/drawing/2014/main" id="{EF037F9E-44EF-43F5-AEDE-AEE7499533DD}"/>
              </a:ext>
            </a:extLst>
          </p:cNvPr>
          <p:cNvSpPr txBox="1"/>
          <p:nvPr/>
        </p:nvSpPr>
        <p:spPr>
          <a:xfrm>
            <a:off x="3827146" y="8434352"/>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PK_SchoolManager</a:t>
            </a:r>
          </a:p>
        </p:txBody>
      </p:sp>
      <p:sp>
        <p:nvSpPr>
          <p:cNvPr id="61" name="pole tekstowe 60">
            <a:extLst>
              <a:ext uri="{FF2B5EF4-FFF2-40B4-BE49-F238E27FC236}">
                <a16:creationId xmlns:a16="http://schemas.microsoft.com/office/drawing/2014/main" id="{F5954A7F-EA9E-452C-A906-45766262C655}"/>
              </a:ext>
            </a:extLst>
          </p:cNvPr>
          <p:cNvSpPr txBox="1"/>
          <p:nvPr/>
        </p:nvSpPr>
        <p:spPr>
          <a:xfrm>
            <a:off x="3827146" y="8711795"/>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PHP, HTML, CSS, JavaScript, jQuery, MySQL</a:t>
            </a:r>
          </a:p>
        </p:txBody>
      </p:sp>
      <p:sp>
        <p:nvSpPr>
          <p:cNvPr id="62" name="pole tekstowe 61">
            <a:extLst>
              <a:ext uri="{FF2B5EF4-FFF2-40B4-BE49-F238E27FC236}">
                <a16:creationId xmlns:a16="http://schemas.microsoft.com/office/drawing/2014/main" id="{FFD38749-C39F-4C7D-B1FE-148E8E2EFC98}"/>
              </a:ext>
            </a:extLst>
          </p:cNvPr>
          <p:cNvSpPr txBox="1"/>
          <p:nvPr/>
        </p:nvSpPr>
        <p:spPr>
          <a:xfrm>
            <a:off x="3827146" y="8983057"/>
            <a:ext cx="6660538" cy="646331"/>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Web application supporting the management of the school, created on behalf of the Scorpion Dance Team. Participant registration, schedule, email and SMS notifications, staff settlements, import and processing of bank statements.</a:t>
            </a:r>
          </a:p>
        </p:txBody>
      </p:sp>
      <p:sp>
        <p:nvSpPr>
          <p:cNvPr id="66" name="pole tekstowe 65">
            <a:extLst>
              <a:ext uri="{FF2B5EF4-FFF2-40B4-BE49-F238E27FC236}">
                <a16:creationId xmlns:a16="http://schemas.microsoft.com/office/drawing/2014/main" id="{3983677A-7F0D-4C26-85BB-C138FB2DC2F3}"/>
              </a:ext>
            </a:extLst>
          </p:cNvPr>
          <p:cNvSpPr txBox="1"/>
          <p:nvPr/>
        </p:nvSpPr>
        <p:spPr>
          <a:xfrm>
            <a:off x="3827146" y="9893937"/>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scorpiondanceteam.com</a:t>
            </a:r>
          </a:p>
        </p:txBody>
      </p:sp>
      <p:sp>
        <p:nvSpPr>
          <p:cNvPr id="67" name="pole tekstowe 66">
            <a:extLst>
              <a:ext uri="{FF2B5EF4-FFF2-40B4-BE49-F238E27FC236}">
                <a16:creationId xmlns:a16="http://schemas.microsoft.com/office/drawing/2014/main" id="{4381381B-BFE8-4D0E-8EC3-EA488ADBF8BA}"/>
              </a:ext>
            </a:extLst>
          </p:cNvPr>
          <p:cNvSpPr txBox="1"/>
          <p:nvPr/>
        </p:nvSpPr>
        <p:spPr>
          <a:xfrm>
            <a:off x="3827146" y="10178093"/>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HTML, CSS, Bootstrap</a:t>
            </a:r>
          </a:p>
        </p:txBody>
      </p:sp>
      <p:sp>
        <p:nvSpPr>
          <p:cNvPr id="68" name="pole tekstowe 67">
            <a:extLst>
              <a:ext uri="{FF2B5EF4-FFF2-40B4-BE49-F238E27FC236}">
                <a16:creationId xmlns:a16="http://schemas.microsoft.com/office/drawing/2014/main" id="{E39D167A-C1DD-4779-87EA-C207688A6867}"/>
              </a:ext>
            </a:extLst>
          </p:cNvPr>
          <p:cNvSpPr txBox="1"/>
          <p:nvPr/>
        </p:nvSpPr>
        <p:spPr>
          <a:xfrm>
            <a:off x="3827146" y="10442642"/>
            <a:ext cx="6660538" cy="276999"/>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Scorpion Dance Team website created and administered by me since 2015.</a:t>
            </a:r>
          </a:p>
        </p:txBody>
      </p:sp>
      <p:sp>
        <p:nvSpPr>
          <p:cNvPr id="70" name="pole tekstowe 69">
            <a:extLst>
              <a:ext uri="{FF2B5EF4-FFF2-40B4-BE49-F238E27FC236}">
                <a16:creationId xmlns:a16="http://schemas.microsoft.com/office/drawing/2014/main" id="{2A9AEB70-638E-4787-89DC-A80D006FAA0E}"/>
              </a:ext>
            </a:extLst>
          </p:cNvPr>
          <p:cNvSpPr txBox="1"/>
          <p:nvPr/>
        </p:nvSpPr>
        <p:spPr>
          <a:xfrm>
            <a:off x="3827146" y="10975875"/>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Solvro Transport Assistant</a:t>
            </a:r>
          </a:p>
        </p:txBody>
      </p:sp>
      <p:sp>
        <p:nvSpPr>
          <p:cNvPr id="71" name="pole tekstowe 70">
            <a:extLst>
              <a:ext uri="{FF2B5EF4-FFF2-40B4-BE49-F238E27FC236}">
                <a16:creationId xmlns:a16="http://schemas.microsoft.com/office/drawing/2014/main" id="{4AACB2D7-A127-4A25-BDB3-E30712644D4F}"/>
              </a:ext>
            </a:extLst>
          </p:cNvPr>
          <p:cNvSpPr txBox="1"/>
          <p:nvPr/>
        </p:nvSpPr>
        <p:spPr>
          <a:xfrm>
            <a:off x="3827146" y="11260031"/>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Python, Django, HTML, CSS, Bootstrap</a:t>
            </a:r>
          </a:p>
        </p:txBody>
      </p:sp>
      <p:sp>
        <p:nvSpPr>
          <p:cNvPr id="72" name="pole tekstowe 71">
            <a:extLst>
              <a:ext uri="{FF2B5EF4-FFF2-40B4-BE49-F238E27FC236}">
                <a16:creationId xmlns:a16="http://schemas.microsoft.com/office/drawing/2014/main" id="{BBDB1A1B-A7C4-44E8-B2C3-9DEDA8D2E28D}"/>
              </a:ext>
            </a:extLst>
          </p:cNvPr>
          <p:cNvSpPr txBox="1"/>
          <p:nvPr/>
        </p:nvSpPr>
        <p:spPr>
          <a:xfrm>
            <a:off x="3827146" y="11524580"/>
            <a:ext cx="6660538" cy="461665"/>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Application that searches for the shortest route between two stops in Solvro City. Including user authentication, user interface, API and city map visualization.</a:t>
            </a:r>
          </a:p>
        </p:txBody>
      </p:sp>
      <p:sp>
        <p:nvSpPr>
          <p:cNvPr id="74" name="pole tekstowe 73">
            <a:extLst>
              <a:ext uri="{FF2B5EF4-FFF2-40B4-BE49-F238E27FC236}">
                <a16:creationId xmlns:a16="http://schemas.microsoft.com/office/drawing/2014/main" id="{5731F682-14FA-4B43-872B-D75A6A24C264}"/>
              </a:ext>
            </a:extLst>
          </p:cNvPr>
          <p:cNvSpPr txBox="1"/>
          <p:nvPr/>
        </p:nvSpPr>
        <p:spPr>
          <a:xfrm>
            <a:off x="3827146" y="12529377"/>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Interests</a:t>
            </a:r>
            <a:endParaRPr lang="en-US" sz="2400">
              <a:latin typeface="Poppins Light" panose="00000400000000000000" pitchFamily="2" charset="0"/>
              <a:cs typeface="Poppins Light" panose="00000400000000000000" pitchFamily="2" charset="0"/>
            </a:endParaRPr>
          </a:p>
        </p:txBody>
      </p:sp>
      <p:sp>
        <p:nvSpPr>
          <p:cNvPr id="75" name="pole tekstowe 74">
            <a:extLst>
              <a:ext uri="{FF2B5EF4-FFF2-40B4-BE49-F238E27FC236}">
                <a16:creationId xmlns:a16="http://schemas.microsoft.com/office/drawing/2014/main" id="{51EC6B76-E8E6-40BB-AC75-D8466CC256B1}"/>
              </a:ext>
            </a:extLst>
          </p:cNvPr>
          <p:cNvSpPr txBox="1"/>
          <p:nvPr/>
        </p:nvSpPr>
        <p:spPr>
          <a:xfrm>
            <a:off x="3827146" y="13146311"/>
            <a:ext cx="6660538"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dance, graphic design, technology, drone operation</a:t>
            </a:r>
          </a:p>
        </p:txBody>
      </p:sp>
      <p:sp>
        <p:nvSpPr>
          <p:cNvPr id="78" name="Prostokąt 77">
            <a:hlinkClick r:id="rId4"/>
            <a:extLst>
              <a:ext uri="{FF2B5EF4-FFF2-40B4-BE49-F238E27FC236}">
                <a16:creationId xmlns:a16="http://schemas.microsoft.com/office/drawing/2014/main" id="{40C1ABE0-3041-469B-BD85-193E764AAA2B}"/>
              </a:ext>
            </a:extLst>
          </p:cNvPr>
          <p:cNvSpPr/>
          <p:nvPr/>
        </p:nvSpPr>
        <p:spPr>
          <a:xfrm>
            <a:off x="261424" y="4043835"/>
            <a:ext cx="2834201"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Prostokąt 78">
            <a:hlinkClick r:id="rId5"/>
            <a:extLst>
              <a:ext uri="{FF2B5EF4-FFF2-40B4-BE49-F238E27FC236}">
                <a16:creationId xmlns:a16="http://schemas.microsoft.com/office/drawing/2014/main" id="{306D9025-3C25-4AC8-93C1-6650A940C60E}"/>
              </a:ext>
            </a:extLst>
          </p:cNvPr>
          <p:cNvSpPr/>
          <p:nvPr/>
        </p:nvSpPr>
        <p:spPr>
          <a:xfrm>
            <a:off x="261425" y="4283907"/>
            <a:ext cx="1529276"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Prostokąt 79">
            <a:hlinkClick r:id="rId6"/>
            <a:extLst>
              <a:ext uri="{FF2B5EF4-FFF2-40B4-BE49-F238E27FC236}">
                <a16:creationId xmlns:a16="http://schemas.microsoft.com/office/drawing/2014/main" id="{3A05D972-3D7C-44D0-9C56-B4F3B4B00403}"/>
              </a:ext>
            </a:extLst>
          </p:cNvPr>
          <p:cNvSpPr/>
          <p:nvPr/>
        </p:nvSpPr>
        <p:spPr>
          <a:xfrm>
            <a:off x="261425" y="4775097"/>
            <a:ext cx="2738950"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Prostokąt 80">
            <a:hlinkClick r:id="rId7"/>
            <a:extLst>
              <a:ext uri="{FF2B5EF4-FFF2-40B4-BE49-F238E27FC236}">
                <a16:creationId xmlns:a16="http://schemas.microsoft.com/office/drawing/2014/main" id="{2559C9A3-034C-44D0-9A9B-C461324E3D45}"/>
              </a:ext>
            </a:extLst>
          </p:cNvPr>
          <p:cNvSpPr/>
          <p:nvPr/>
        </p:nvSpPr>
        <p:spPr>
          <a:xfrm>
            <a:off x="261425" y="5025327"/>
            <a:ext cx="2618300"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Prostokąt 85">
            <a:hlinkClick r:id="rId8"/>
            <a:extLst>
              <a:ext uri="{FF2B5EF4-FFF2-40B4-BE49-F238E27FC236}">
                <a16:creationId xmlns:a16="http://schemas.microsoft.com/office/drawing/2014/main" id="{8F4413FE-277B-4E18-AFA4-9585ED7B48E2}"/>
              </a:ext>
            </a:extLst>
          </p:cNvPr>
          <p:cNvSpPr/>
          <p:nvPr/>
        </p:nvSpPr>
        <p:spPr>
          <a:xfrm>
            <a:off x="690050" y="14607404"/>
            <a:ext cx="2229363"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91949309"/>
      </p:ext>
    </p:extLst>
  </p:cSld>
  <p:clrMapOvr>
    <a:masterClrMapping/>
  </p:clrMapOvr>
</p:sld>
</file>

<file path=ppt/theme/theme1.xml><?xml version="1.0" encoding="utf-8"?>
<a:theme xmlns:a="http://schemas.openxmlformats.org/drawingml/2006/main" name="Motyw pakietu Office">
  <a:themeElements>
    <a:clrScheme name="Motyw pakietu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tyw pakietu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otyw pakietu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485</TotalTime>
  <Words>433</Words>
  <Application>Microsoft Office PowerPoint</Application>
  <PresentationFormat>Niestandardowy</PresentationFormat>
  <Paragraphs>63</Paragraphs>
  <Slides>1</Slides>
  <Notes>0</Notes>
  <HiddenSlides>0</HiddenSlides>
  <MMClips>0</MMClips>
  <ScaleCrop>false</ScaleCrop>
  <HeadingPairs>
    <vt:vector size="6" baseType="variant">
      <vt:variant>
        <vt:lpstr>Używane czcionki</vt:lpstr>
      </vt:variant>
      <vt:variant>
        <vt:i4>8</vt:i4>
      </vt:variant>
      <vt:variant>
        <vt:lpstr>Motyw</vt:lpstr>
      </vt:variant>
      <vt:variant>
        <vt:i4>1</vt:i4>
      </vt:variant>
      <vt:variant>
        <vt:lpstr>Tytuły slajdów</vt:lpstr>
      </vt:variant>
      <vt:variant>
        <vt:i4>1</vt:i4>
      </vt:variant>
    </vt:vector>
  </HeadingPairs>
  <TitlesOfParts>
    <vt:vector size="10" baseType="lpstr">
      <vt:lpstr>Arial</vt:lpstr>
      <vt:lpstr>Calibri</vt:lpstr>
      <vt:lpstr>Calibri Light</vt:lpstr>
      <vt:lpstr>Poppins</vt:lpstr>
      <vt:lpstr>Poppins ExtraLight</vt:lpstr>
      <vt:lpstr>Poppins Light</vt:lpstr>
      <vt:lpstr>Poppins SemiBold</vt:lpstr>
      <vt:lpstr>Wingdings</vt:lpstr>
      <vt:lpstr>Motyw pakietu Office</vt:lpstr>
      <vt:lpstr>Prezentacja programu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PK_CV</dc:title>
  <dc:creator>Paweł Kolman</dc:creator>
  <cp:lastModifiedBy>Paweł Kolman (256778)</cp:lastModifiedBy>
  <cp:revision>40</cp:revision>
  <dcterms:created xsi:type="dcterms:W3CDTF">2020-10-01T16:51:34Z</dcterms:created>
  <dcterms:modified xsi:type="dcterms:W3CDTF">2020-11-04T15:28:40Z</dcterms:modified>
</cp:coreProperties>
</file>